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62" r:id="rId5"/>
    <p:sldId id="260" r:id="rId6"/>
    <p:sldId id="264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0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6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258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3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202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42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044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9123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422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308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02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791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041346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256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70163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7729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1859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95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F9DF7C-0EED-431B-9CE0-D36480CA7F20}" type="datetimeFigureOut">
              <a:rPr lang="en-US" smtClean="0"/>
              <a:t>9/28/2023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273B907-ECC9-4A70-A7E1-991082AC2A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905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oxdocs.org/doku.php?id=perseus:user:activities:matrixprocessing:learning:classificationparameteroptimization" TargetMode="External"/><Relationship Id="rId2" Type="http://schemas.openxmlformats.org/officeDocument/2006/relationships/hyperlink" Target="https://www.datacamp.com/community/tutorials/k-nearest-neighbor-classification-scikit-lear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K-nearest_neighbors_algorith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9C6D-1616-4D11-9EE0-4F76EBB050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K-Nearest Neighbors KNN</a:t>
            </a:r>
          </a:p>
        </p:txBody>
      </p:sp>
    </p:spTree>
    <p:extLst>
      <p:ext uri="{BB962C8B-B14F-4D97-AF65-F5344CB8AC3E}">
        <p14:creationId xmlns:p14="http://schemas.microsoft.com/office/powerpoint/2010/main" val="3382172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	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295B-5117-4731-B549-DAAC00DDBA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KNN?</a:t>
            </a:r>
          </a:p>
          <a:p>
            <a:r>
              <a:rPr lang="en-US" dirty="0"/>
              <a:t>Steps involved in KNN</a:t>
            </a:r>
          </a:p>
        </p:txBody>
      </p:sp>
    </p:spTree>
    <p:extLst>
      <p:ext uri="{BB962C8B-B14F-4D97-AF65-F5344CB8AC3E}">
        <p14:creationId xmlns:p14="http://schemas.microsoft.com/office/powerpoint/2010/main" val="3578490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KNN?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295B-5117-4731-B549-DAAC00DDB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7853"/>
            <a:ext cx="8596668" cy="457350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K-nearest neighbors (KNN) is a supervised technique that can be used for classification or regression. </a:t>
            </a:r>
          </a:p>
          <a:p>
            <a:pPr marL="0" indent="0">
              <a:buNone/>
            </a:pPr>
            <a:r>
              <a:rPr lang="en-US" dirty="0"/>
              <a:t>We will only look into KNN for classification.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96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2" y="609600"/>
            <a:ext cx="8491949" cy="1147011"/>
          </a:xfrm>
        </p:spPr>
        <p:txBody>
          <a:bodyPr/>
          <a:lstStyle/>
          <a:p>
            <a:r>
              <a:rPr lang="en-US" dirty="0"/>
              <a:t>Steps Involved in KNN?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295B-5117-4731-B549-DAAC00DDBA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756611"/>
            <a:ext cx="8596668" cy="4284751"/>
          </a:xfrm>
        </p:spPr>
        <p:txBody>
          <a:bodyPr>
            <a:normAutofit/>
          </a:bodyPr>
          <a:lstStyle/>
          <a:p>
            <a:pPr marL="457200" indent="-457200">
              <a:buAutoNum type="arabicParenR"/>
            </a:pPr>
            <a:r>
              <a:rPr lang="en-US" sz="2400" dirty="0"/>
              <a:t>Distance between the test point and all the other points is computed and the distances are arranged from lowest to highest. </a:t>
            </a:r>
          </a:p>
          <a:p>
            <a:pPr marL="457200" indent="-457200">
              <a:buAutoNum type="arabicParenR"/>
            </a:pPr>
            <a:endParaRPr lang="en-US" sz="2400" dirty="0"/>
          </a:p>
          <a:p>
            <a:pPr marL="457200" indent="-457200">
              <a:buAutoNum type="arabicParenR"/>
            </a:pPr>
            <a:r>
              <a:rPr lang="en-US" sz="2400" dirty="0"/>
              <a:t>Based on the number of neighbors, the majority class label is assigned to the test point. </a:t>
            </a:r>
          </a:p>
        </p:txBody>
      </p:sp>
    </p:spTree>
    <p:extLst>
      <p:ext uri="{BB962C8B-B14F-4D97-AF65-F5344CB8AC3E}">
        <p14:creationId xmlns:p14="http://schemas.microsoft.com/office/powerpoint/2010/main" val="251271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E945E22-07DF-4CFA-839E-2F4920EE3D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28562" y="1760440"/>
            <a:ext cx="7996425" cy="4135034"/>
          </a:xfrm>
        </p:spPr>
      </p:pic>
    </p:spTree>
    <p:extLst>
      <p:ext uri="{BB962C8B-B14F-4D97-AF65-F5344CB8AC3E}">
        <p14:creationId xmlns:p14="http://schemas.microsoft.com/office/powerpoint/2010/main" val="6699500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705" y="356827"/>
            <a:ext cx="8478982" cy="743777"/>
          </a:xfrm>
        </p:spPr>
        <p:txBody>
          <a:bodyPr/>
          <a:lstStyle/>
          <a:p>
            <a:r>
              <a:rPr lang="en-US" dirty="0"/>
              <a:t>Different Distance Measures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8DFF46F-F296-46F9-848F-C5EE896855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85011" y="1064028"/>
                <a:ext cx="10421534" cy="5793972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Manhattan Distance </a:t>
                </a:r>
              </a:p>
              <a:p>
                <a:pPr marL="0" indent="0">
                  <a:buNone/>
                </a:pPr>
                <a:r>
                  <a:rPr lang="en-US" dirty="0"/>
                  <a:t>     (2,3) and (7,9)</a:t>
                </a:r>
              </a:p>
              <a:p>
                <a:pPr marL="0" indent="0">
                  <a:buNone/>
                </a:pPr>
                <a:r>
                  <a:rPr lang="en-US" dirty="0"/>
                  <a:t>     |2-7| + |3-9| = 5 + 6 = 11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Euclidean Distance – Is mostly used</a:t>
                </a:r>
              </a:p>
              <a:p>
                <a:pPr marL="0" indent="0">
                  <a:buNone/>
                </a:pPr>
                <a:r>
                  <a:rPr lang="en-US" dirty="0"/>
                  <a:t>     (2,3) and (7,9)</a:t>
                </a:r>
              </a:p>
              <a:p>
                <a:pPr marL="0" indent="0"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2−7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3−9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  </m:t>
                    </m:r>
                  </m:oMath>
                </a14:m>
                <a:r>
                  <a:rPr lang="en-US" b="0" dirty="0"/>
                  <a:t>=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25+36</m:t>
                        </m:r>
                      </m:e>
                    </m:rad>
                  </m:oMath>
                </a14:m>
                <a:r>
                  <a:rPr lang="en-US" dirty="0"/>
                  <a:t>  =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61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r>
                  <a:rPr lang="en-US" dirty="0"/>
                  <a:t>= 7.81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Cosine Distance </a:t>
                </a:r>
              </a:p>
              <a:p>
                <a:pPr marL="0" indent="0">
                  <a:buNone/>
                </a:pPr>
                <a:r>
                  <a:rPr lang="en-US" dirty="0"/>
                  <a:t>     (2,3) and (7,9)</a:t>
                </a:r>
              </a:p>
              <a:p>
                <a:r>
                  <a:rPr lang="en-US" dirty="0"/>
                  <a:t>Cos(</a:t>
                </a:r>
                <a:r>
                  <a:rPr lang="el-GR" dirty="0"/>
                  <a:t>θ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||</m:t>
                        </m:r>
                        <m:r>
                          <m:rPr>
                            <m:nor/>
                          </m:rPr>
                          <a:rPr lang="en-US" dirty="0"/>
                          <m:t>a</m:t>
                        </m:r>
                        <m:r>
                          <m:rPr>
                            <m:nor/>
                          </m:rPr>
                          <a:rPr lang="en-US" dirty="0"/>
                          <m:t>||.||</m:t>
                        </m:r>
                        <m:r>
                          <m:rPr>
                            <m:nor/>
                          </m:rPr>
                          <a:rPr lang="en-US" dirty="0"/>
                          <m:t>b</m:t>
                        </m:r>
                        <m:r>
                          <m:rPr>
                            <m:nor/>
                          </m:rPr>
                          <a:rPr lang="en-US" dirty="0"/>
                          <m:t>|| 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Cos (</a:t>
                </a:r>
                <a:r>
                  <a:rPr lang="el-GR" dirty="0"/>
                  <a:t>θ</a:t>
                </a:r>
                <a:r>
                  <a:rPr lang="en-US" dirty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(2*7+3*9)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en-US" dirty="0"/>
                          <m:t> )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US"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  <m:r>
                          <a:rPr lang="en-US" i="1">
                            <a:latin typeface="Cambria Math" panose="02040503050406030204" pitchFamily="18" charset="0"/>
                          </a:rPr>
                          <m:t> ∗ </m:t>
                        </m:r>
                        <m:rad>
                          <m:radPr>
                            <m:deg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130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</m:rad>
                        <m:r>
                          <m:rPr>
                            <m:nor/>
                          </m:rPr>
                          <a:rPr lang="en-US" dirty="0"/>
                          <m:t> )</m:t>
                        </m:r>
                      </m:den>
                    </m:f>
                  </m:oMath>
                </a14:m>
                <a:r>
                  <a:rPr lang="en-US" dirty="0"/>
                  <a:t> = 0.99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8DFF46F-F296-46F9-848F-C5EE896855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5011" y="1064028"/>
                <a:ext cx="10421534" cy="5793972"/>
              </a:xfrm>
              <a:blipFill>
                <a:blip r:embed="rId2"/>
                <a:stretch>
                  <a:fillRect l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0" name="Picture 6">
            <a:extLst>
              <a:ext uri="{FF2B5EF4-FFF2-40B4-BE49-F238E27FC236}">
                <a16:creationId xmlns:a16="http://schemas.microsoft.com/office/drawing/2014/main" id="{9558660A-033F-D2C7-E080-88A7EBCAAE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79" r="32905" b="66941"/>
          <a:stretch/>
        </p:blipFill>
        <p:spPr bwMode="auto">
          <a:xfrm>
            <a:off x="7003232" y="5188626"/>
            <a:ext cx="1188515" cy="1141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>
            <a:extLst>
              <a:ext uri="{FF2B5EF4-FFF2-40B4-BE49-F238E27FC236}">
                <a16:creationId xmlns:a16="http://schemas.microsoft.com/office/drawing/2014/main" id="{D86BA4C5-6521-BD41-E6A5-56B76F8301B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90" r="66996" b="34051"/>
          <a:stretch/>
        </p:blipFill>
        <p:spPr bwMode="auto">
          <a:xfrm>
            <a:off x="6973913" y="1466328"/>
            <a:ext cx="1129875" cy="1141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>
            <a:extLst>
              <a:ext uri="{FF2B5EF4-FFF2-40B4-BE49-F238E27FC236}">
                <a16:creationId xmlns:a16="http://schemas.microsoft.com/office/drawing/2014/main" id="{E889FB3C-2511-8FA1-2DD1-8B03AF5CA3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997" b="66941"/>
          <a:stretch/>
        </p:blipFill>
        <p:spPr bwMode="auto">
          <a:xfrm>
            <a:off x="7003232" y="3144615"/>
            <a:ext cx="1129875" cy="1141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75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DFF46F-F296-46F9-848F-C5EE89685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40043"/>
            <a:ext cx="8596668" cy="4501320"/>
          </a:xfrm>
        </p:spPr>
        <p:txBody>
          <a:bodyPr/>
          <a:lstStyle/>
          <a:p>
            <a:r>
              <a:rPr lang="en-US" dirty="0"/>
              <a:t>KNN will not work on a multiclass classifier if the class labels are too many. </a:t>
            </a:r>
          </a:p>
          <a:p>
            <a:endParaRPr lang="en-US" dirty="0"/>
          </a:p>
          <a:p>
            <a:r>
              <a:rPr lang="en-US" dirty="0"/>
              <a:t>KNN will also not work when the dataset is very large.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1376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E57E3-F104-4DED-A705-F4A53C445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FF76DD-9E25-4891-8EFC-81C9286EA8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>
                <a:hlinkClick r:id="rId2"/>
              </a:rPr>
              <a:t>https://www.datacamp.com/community/tutorials/k-nearest-neighbor-classification-scikit-learn</a:t>
            </a:r>
            <a:endParaRPr lang="en-US" dirty="0"/>
          </a:p>
          <a:p>
            <a:r>
              <a:rPr lang="en-US" dirty="0">
                <a:hlinkClick r:id="rId3"/>
              </a:rPr>
              <a:t>http://www.coxdocs.org/doku.php?id=perseus:user:activities:matrixprocessing:learning:classificationparameteroptimization</a:t>
            </a:r>
            <a:endParaRPr lang="en-US" dirty="0"/>
          </a:p>
          <a:p>
            <a:r>
              <a:rPr lang="en-US" dirty="0">
                <a:hlinkClick r:id="rId4"/>
              </a:rPr>
              <a:t>https://en.wikipedia.org/wiki/K-nearest_neighbors_algorithm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07817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264</TotalTime>
  <Words>254</Words>
  <Application>Microsoft Office PowerPoint</Application>
  <PresentationFormat>Widescreen</PresentationFormat>
  <Paragraphs>38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Cambria Math</vt:lpstr>
      <vt:lpstr>Trebuchet MS</vt:lpstr>
      <vt:lpstr>Wingdings 3</vt:lpstr>
      <vt:lpstr>Facet</vt:lpstr>
      <vt:lpstr>K-Nearest Neighbors KNN</vt:lpstr>
      <vt:lpstr>Objectives  </vt:lpstr>
      <vt:lpstr>What is KNN?</vt:lpstr>
      <vt:lpstr>Steps Involved in KNN?</vt:lpstr>
      <vt:lpstr>How Does it Work?</vt:lpstr>
      <vt:lpstr>Different Distance Measures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K-Nearest Neighbors KNN</dc:title>
  <dc:creator>Sridevi Pudipeddi</dc:creator>
  <cp:lastModifiedBy>S P</cp:lastModifiedBy>
  <cp:revision>13</cp:revision>
  <dcterms:created xsi:type="dcterms:W3CDTF">2023-07-31T21:38:25Z</dcterms:created>
  <dcterms:modified xsi:type="dcterms:W3CDTF">2023-09-28T22:41:28Z</dcterms:modified>
</cp:coreProperties>
</file>