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9" r:id="rId1"/>
  </p:sldMasterIdLst>
  <p:notesMasterIdLst>
    <p:notesMasterId r:id="rId22"/>
  </p:notesMasterIdLst>
  <p:handoutMasterIdLst>
    <p:handoutMasterId r:id="rId23"/>
  </p:handoutMasterIdLst>
  <p:sldIdLst>
    <p:sldId id="256" r:id="rId2"/>
    <p:sldId id="334" r:id="rId3"/>
    <p:sldId id="328" r:id="rId4"/>
    <p:sldId id="329" r:id="rId5"/>
    <p:sldId id="339" r:id="rId6"/>
    <p:sldId id="348" r:id="rId7"/>
    <p:sldId id="340" r:id="rId8"/>
    <p:sldId id="331" r:id="rId9"/>
    <p:sldId id="335" r:id="rId10"/>
    <p:sldId id="336" r:id="rId11"/>
    <p:sldId id="338" r:id="rId12"/>
    <p:sldId id="337" r:id="rId13"/>
    <p:sldId id="347" r:id="rId14"/>
    <p:sldId id="341" r:id="rId15"/>
    <p:sldId id="342" r:id="rId16"/>
    <p:sldId id="344" r:id="rId17"/>
    <p:sldId id="343" r:id="rId18"/>
    <p:sldId id="349" r:id="rId19"/>
    <p:sldId id="345" r:id="rId20"/>
    <p:sldId id="346" r:id="rId21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86531"/>
  </p:normalViewPr>
  <p:slideViewPr>
    <p:cSldViewPr snapToGrid="0">
      <p:cViewPr varScale="1">
        <p:scale>
          <a:sx n="145" d="100"/>
          <a:sy n="145" d="100"/>
        </p:scale>
        <p:origin x="1332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40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40FE18-13F7-4CDF-AB3B-D3B827BD271E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D09ADF-4C2D-4AB0-A722-66495454D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84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2FF73-EC49-4036-BFBE-4A07FEBAFD49}" type="datetimeFigureOut">
              <a:rPr lang="en-US" smtClean="0"/>
              <a:t>10/6/2023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76045-D52C-4153-BCD4-DF6EDEB5A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55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76045-D52C-4153-BCD4-DF6EDEB5A7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76045-D52C-4153-BCD4-DF6EDEB5A7F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62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76045-D52C-4153-BCD4-DF6EDEB5A7F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35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62917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790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51901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02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67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4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641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0093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991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41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27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667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OHayh06LJ4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Gv6Edl-pi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cs231n.github.io/convolutional-networks/" TargetMode="External"/><Relationship Id="rId2" Type="http://schemas.openxmlformats.org/officeDocument/2006/relationships/hyperlink" Target="https://github.com/merantix/picass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labs.developers.google.com/codelabs/cloud-tensorflow-mnist#9" TargetMode="External"/><Relationship Id="rId5" Type="http://schemas.openxmlformats.org/officeDocument/2006/relationships/hyperlink" Target="https://www.youtube.com/watch?v=FmpDIaiMIeA" TargetMode="External"/><Relationship Id="rId4" Type="http://schemas.openxmlformats.org/officeDocument/2006/relationships/hyperlink" Target="https://www.youtube.com/watch?v=s716QXfApa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1D149FF-24EA-4575-93C6-D58A02586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8956" y="1480930"/>
            <a:ext cx="4975700" cy="3672027"/>
          </a:xfrm>
        </p:spPr>
        <p:txBody>
          <a:bodyPr anchor="ctr">
            <a:normAutofit/>
          </a:bodyPr>
          <a:lstStyle/>
          <a:p>
            <a:pPr algn="r"/>
            <a:r>
              <a:rPr lang="en-US" sz="4800"/>
              <a:t>Convolutional neural network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65133-69F4-4869-A4C0-97C9B2B60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6"/>
            <a:ext cx="2108425" cy="68576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43FEB8E0-28C6-45D4-B8D7-F36F09074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1125266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9EBF91-BD5B-4CA7-8B07-993751CD3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6357" y="2463421"/>
            <a:ext cx="0" cy="203351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090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49185"/>
          </a:xfrm>
        </p:spPr>
        <p:txBody>
          <a:bodyPr>
            <a:normAutofit/>
          </a:bodyPr>
          <a:lstStyle/>
          <a:p>
            <a:r>
              <a:rPr lang="en-US" dirty="0"/>
              <a:t>Hubel and Wiesel cat experiment</a:t>
            </a:r>
          </a:p>
        </p:txBody>
      </p:sp>
      <p:pic>
        <p:nvPicPr>
          <p:cNvPr id="1026" name="Picture 2" descr="Hubel and Wiesel Experim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408" y="1303020"/>
            <a:ext cx="5412012" cy="358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058879" y="2533468"/>
            <a:ext cx="3371121" cy="531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https://goodpsychology.files.wordpress.com/2013/03/hubel-experiment.jpg</a:t>
            </a:r>
          </a:p>
        </p:txBody>
      </p:sp>
      <p:sp>
        <p:nvSpPr>
          <p:cNvPr id="5" name="Rectangle 4"/>
          <p:cNvSpPr/>
          <p:nvPr/>
        </p:nvSpPr>
        <p:spPr>
          <a:xfrm>
            <a:off x="2673838" y="5059928"/>
            <a:ext cx="8231164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hlinkClick r:id="rId3"/>
              </a:rPr>
              <a:t>https://youtu.be/IOHayh06LJ4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>
                <a:hlinkClick r:id="rId4"/>
              </a:rPr>
              <a:t>https://www.youtube.com/watch?v=Gv6Edl-pidA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30886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196645"/>
            <a:ext cx="10353761" cy="1326321"/>
          </a:xfrm>
        </p:spPr>
        <p:txBody>
          <a:bodyPr/>
          <a:lstStyle/>
          <a:p>
            <a:r>
              <a:rPr lang="en-US" dirty="0" err="1"/>
              <a:t>LeNet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4" y="1669593"/>
            <a:ext cx="11041896" cy="324355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44737" y="5711384"/>
            <a:ext cx="11124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http://www.pyimagesearch.com/2016/08/01/lenet-convolutional-neural-network-in-python/</a:t>
            </a:r>
          </a:p>
        </p:txBody>
      </p:sp>
    </p:spTree>
    <p:extLst>
      <p:ext uri="{BB962C8B-B14F-4D97-AF65-F5344CB8AC3E}">
        <p14:creationId xmlns:p14="http://schemas.microsoft.com/office/powerpoint/2010/main" val="56679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19270"/>
            <a:ext cx="10353761" cy="1326321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1" t="9995" r="7638" b="14024"/>
          <a:stretch/>
        </p:blipFill>
        <p:spPr>
          <a:xfrm>
            <a:off x="4159925" y="1508724"/>
            <a:ext cx="7107631" cy="1487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49" y="3602934"/>
            <a:ext cx="10971709" cy="19894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55" y="1599826"/>
            <a:ext cx="2141385" cy="138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0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63485"/>
          </a:xfrm>
        </p:spPr>
        <p:txBody>
          <a:bodyPr/>
          <a:lstStyle/>
          <a:p>
            <a:r>
              <a:rPr lang="en-US" dirty="0"/>
              <a:t>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638" y="1440181"/>
            <a:ext cx="10178322" cy="5180752"/>
          </a:xfrm>
        </p:spPr>
        <p:txBody>
          <a:bodyPr>
            <a:normAutofit/>
          </a:bodyPr>
          <a:lstStyle/>
          <a:p>
            <a:r>
              <a:rPr lang="en-US" sz="2800" dirty="0"/>
              <a:t>Padding ‘SAME’ will add 0 to edge, so that the image size can be maintained.</a:t>
            </a:r>
          </a:p>
          <a:p>
            <a:r>
              <a:rPr lang="en-US" sz="2800" dirty="0"/>
              <a:t>Stride is specified as a tuple with 2 values (</a:t>
            </a:r>
            <a:r>
              <a:rPr lang="en-US" sz="2800" dirty="0" err="1"/>
              <a:t>stride_x</a:t>
            </a:r>
            <a:r>
              <a:rPr lang="en-US" sz="2800" dirty="0"/>
              <a:t>, </a:t>
            </a:r>
            <a:r>
              <a:rPr lang="en-US" sz="2800" dirty="0" err="1"/>
              <a:t>stride_y</a:t>
            </a:r>
            <a:r>
              <a:rPr lang="en-US" sz="2800" dirty="0"/>
              <a:t>). So, stride = (2, 2) implies that we will jump 2 pixels after convolution. This will reduce the image by half.  It is preferable to use (1, 1) and padding=‘same’, so that image size is not modified by convolution.</a:t>
            </a:r>
          </a:p>
          <a:p>
            <a:r>
              <a:rPr lang="en-US" sz="2800" dirty="0"/>
              <a:t>Kernel specified as a tuple with two values, (width, height). So, stride = (2,2), will shrink the image by half. </a:t>
            </a:r>
          </a:p>
        </p:txBody>
      </p:sp>
    </p:spTree>
    <p:extLst>
      <p:ext uri="{BB962C8B-B14F-4D97-AF65-F5344CB8AC3E}">
        <p14:creationId xmlns:p14="http://schemas.microsoft.com/office/powerpoint/2010/main" val="356933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F92F15-F10C-0D4C-8D43-F7808CF62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88466"/>
              </p:ext>
            </p:extLst>
          </p:nvPr>
        </p:nvGraphicFramePr>
        <p:xfrm>
          <a:off x="1267214" y="1377891"/>
          <a:ext cx="6638296" cy="465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9574">
                  <a:extLst>
                    <a:ext uri="{9D8B030D-6E8A-4147-A177-3AD203B41FA5}">
                      <a16:colId xmlns:a16="http://schemas.microsoft.com/office/drawing/2014/main" val="110893392"/>
                    </a:ext>
                  </a:extLst>
                </a:gridCol>
                <a:gridCol w="1659574">
                  <a:extLst>
                    <a:ext uri="{9D8B030D-6E8A-4147-A177-3AD203B41FA5}">
                      <a16:colId xmlns:a16="http://schemas.microsoft.com/office/drawing/2014/main" val="3167367890"/>
                    </a:ext>
                  </a:extLst>
                </a:gridCol>
                <a:gridCol w="1659574">
                  <a:extLst>
                    <a:ext uri="{9D8B030D-6E8A-4147-A177-3AD203B41FA5}">
                      <a16:colId xmlns:a16="http://schemas.microsoft.com/office/drawing/2014/main" val="2094308862"/>
                    </a:ext>
                  </a:extLst>
                </a:gridCol>
                <a:gridCol w="1659574">
                  <a:extLst>
                    <a:ext uri="{9D8B030D-6E8A-4147-A177-3AD203B41FA5}">
                      <a16:colId xmlns:a16="http://schemas.microsoft.com/office/drawing/2014/main" val="2987803165"/>
                    </a:ext>
                  </a:extLst>
                </a:gridCol>
              </a:tblGrid>
              <a:tr h="1163130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10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6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4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6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533294"/>
                  </a:ext>
                </a:extLst>
              </a:tr>
              <a:tr h="1163130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8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2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12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5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818459"/>
                  </a:ext>
                </a:extLst>
              </a:tr>
              <a:tr h="1163130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45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23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-20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-30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890823"/>
                  </a:ext>
                </a:extLst>
              </a:tr>
              <a:tr h="1163130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-10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12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30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64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86064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AD1725-2DF5-6643-9F9C-5F8545B62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439543"/>
              </p:ext>
            </p:extLst>
          </p:nvPr>
        </p:nvGraphicFramePr>
        <p:xfrm>
          <a:off x="8288758" y="2523050"/>
          <a:ext cx="3556000" cy="2362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1089339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167367890"/>
                    </a:ext>
                  </a:extLst>
                </a:gridCol>
              </a:tblGrid>
              <a:tr h="1181101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10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12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533294"/>
                  </a:ext>
                </a:extLst>
              </a:tr>
              <a:tr h="1181101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45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64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818459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57CD80A9-A807-3F43-90E4-CA92A5911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617"/>
            <a:ext cx="10353761" cy="954157"/>
          </a:xfrm>
        </p:spPr>
        <p:txBody>
          <a:bodyPr/>
          <a:lstStyle/>
          <a:p>
            <a:r>
              <a:rPr lang="en-US" dirty="0"/>
              <a:t>Maxpooling</a:t>
            </a:r>
          </a:p>
        </p:txBody>
      </p:sp>
    </p:spTree>
    <p:extLst>
      <p:ext uri="{BB962C8B-B14F-4D97-AF65-F5344CB8AC3E}">
        <p14:creationId xmlns:p14="http://schemas.microsoft.com/office/powerpoint/2010/main" val="68505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74915"/>
          </a:xfrm>
        </p:spPr>
        <p:txBody>
          <a:bodyPr/>
          <a:lstStyle/>
          <a:p>
            <a:r>
              <a:rPr lang="en-US" dirty="0" err="1"/>
              <a:t>MAXPooling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53943" y="1520336"/>
            <a:ext cx="10178322" cy="3593591"/>
          </a:xfrm>
        </p:spPr>
        <p:txBody>
          <a:bodyPr>
            <a:normAutofit/>
          </a:bodyPr>
          <a:lstStyle/>
          <a:p>
            <a:r>
              <a:rPr lang="en-US" sz="3200" dirty="0"/>
              <a:t>Padding ‘SAME’ will add 0 to edge, so that the image size can be maintained.</a:t>
            </a:r>
          </a:p>
          <a:p>
            <a:r>
              <a:rPr lang="en-US" sz="3200" dirty="0"/>
              <a:t>Stride is specified as a tuple with 2 values (</a:t>
            </a:r>
            <a:r>
              <a:rPr lang="en-US" sz="3200" dirty="0" err="1"/>
              <a:t>stride_x</a:t>
            </a:r>
            <a:r>
              <a:rPr lang="en-US" sz="3200" dirty="0"/>
              <a:t>, </a:t>
            </a:r>
            <a:r>
              <a:rPr lang="en-US" sz="3200" dirty="0" err="1"/>
              <a:t>stride_y</a:t>
            </a:r>
            <a:r>
              <a:rPr lang="en-US" sz="3200" dirty="0"/>
              <a:t>). So, stride = (2, 2) implies that we will jump 2 pixels after max pooling. This reduces the image size by half. </a:t>
            </a:r>
          </a:p>
        </p:txBody>
      </p:sp>
    </p:spTree>
    <p:extLst>
      <p:ext uri="{BB962C8B-B14F-4D97-AF65-F5344CB8AC3E}">
        <p14:creationId xmlns:p14="http://schemas.microsoft.com/office/powerpoint/2010/main" val="4200979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578" y="368098"/>
            <a:ext cx="10178322" cy="1492132"/>
          </a:xfrm>
        </p:spPr>
        <p:txBody>
          <a:bodyPr/>
          <a:lstStyle/>
          <a:p>
            <a:r>
              <a:rPr lang="en-US" dirty="0" err="1"/>
              <a:t>LeNet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81100" y="2186961"/>
            <a:ext cx="1472866" cy="1346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28 x 28 image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44" y="3718176"/>
            <a:ext cx="2689367" cy="20269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037699" y="2393953"/>
            <a:ext cx="1302444" cy="9650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Conv1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01046" y="2564321"/>
            <a:ext cx="1217152" cy="716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Max pooling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9101" y="2443425"/>
            <a:ext cx="1302444" cy="9650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7156" y="2525358"/>
            <a:ext cx="1248652" cy="774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Max pooling</a:t>
            </a:r>
          </a:p>
        </p:txBody>
      </p:sp>
      <p:sp>
        <p:nvSpPr>
          <p:cNvPr id="12" name="Oval 11"/>
          <p:cNvSpPr/>
          <p:nvPr/>
        </p:nvSpPr>
        <p:spPr>
          <a:xfrm>
            <a:off x="8995580" y="1118477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995580" y="1550360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995580" y="2005991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995580" y="3364969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022875" y="3833023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022875" y="4264906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9147980" y="2564321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147980" y="2767604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9147980" y="3012923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785806" y="1555003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785806" y="2010634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9785806" y="3369612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9813101" y="3837666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9938206" y="2568964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9938206" y="2772247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9938206" y="3017566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8622003" y="4696789"/>
            <a:ext cx="10519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RELU with dropout</a:t>
            </a:r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760C5E-BAE3-EC4F-8CE0-1B1BA00571F1}"/>
              </a:ext>
            </a:extLst>
          </p:cNvPr>
          <p:cNvSpPr/>
          <p:nvPr/>
        </p:nvSpPr>
        <p:spPr>
          <a:xfrm>
            <a:off x="10615455" y="2058296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DBF868F-F52E-B84B-B88A-A6E26FCEA83A}"/>
              </a:ext>
            </a:extLst>
          </p:cNvPr>
          <p:cNvSpPr/>
          <p:nvPr/>
        </p:nvSpPr>
        <p:spPr>
          <a:xfrm>
            <a:off x="10615455" y="3417274"/>
            <a:ext cx="354842" cy="353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BE041D1-0E09-4E48-BBC6-FBFAFF12072F}"/>
              </a:ext>
            </a:extLst>
          </p:cNvPr>
          <p:cNvSpPr/>
          <p:nvPr/>
        </p:nvSpPr>
        <p:spPr>
          <a:xfrm>
            <a:off x="10767855" y="2616626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8C8EFA4-1858-3444-9517-CBD4E227DA86}"/>
              </a:ext>
            </a:extLst>
          </p:cNvPr>
          <p:cNvSpPr/>
          <p:nvPr/>
        </p:nvSpPr>
        <p:spPr>
          <a:xfrm>
            <a:off x="10767855" y="2819909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286E3BE-B4E2-5047-9739-49227A24B5D0}"/>
              </a:ext>
            </a:extLst>
          </p:cNvPr>
          <p:cNvSpPr/>
          <p:nvPr/>
        </p:nvSpPr>
        <p:spPr>
          <a:xfrm>
            <a:off x="10767855" y="3065228"/>
            <a:ext cx="110320" cy="1216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092E76-6B51-4A42-8BD7-928F0D845F7E}"/>
              </a:ext>
            </a:extLst>
          </p:cNvPr>
          <p:cNvSpPr txBox="1"/>
          <p:nvPr/>
        </p:nvSpPr>
        <p:spPr>
          <a:xfrm>
            <a:off x="10539847" y="1147938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outputs</a:t>
            </a:r>
          </a:p>
        </p:txBody>
      </p:sp>
    </p:spTree>
    <p:extLst>
      <p:ext uri="{BB962C8B-B14F-4D97-AF65-F5344CB8AC3E}">
        <p14:creationId xmlns:p14="http://schemas.microsoft.com/office/powerpoint/2010/main" val="408254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27089"/>
          </a:xfrm>
        </p:spPr>
        <p:txBody>
          <a:bodyPr/>
          <a:lstStyle/>
          <a:p>
            <a:r>
              <a:rPr lang="en-US" dirty="0"/>
              <a:t>RELU activation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4357" y="1441050"/>
                <a:ext cx="3482367" cy="1695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i="1" dirty="0">
                    <a:latin typeface="Cambria Math" charset="0"/>
                  </a:rPr>
                  <a:t>RELU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0    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≤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   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&gt;0</m:t>
                            </m:r>
                          </m:e>
                        </m:eqAr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4357" y="1441050"/>
                <a:ext cx="3482367" cy="1695690"/>
              </a:xfrm>
              <a:blipFill>
                <a:blip r:embed="rId2"/>
                <a:stretch>
                  <a:fillRect l="-14545" t="-118519" b="-14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2" t="2917" r="9828" b="2605"/>
          <a:stretch/>
        </p:blipFill>
        <p:spPr>
          <a:xfrm>
            <a:off x="4297857" y="1209474"/>
            <a:ext cx="7259464" cy="447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68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289488"/>
            <a:ext cx="9601200" cy="1485900"/>
          </a:xfrm>
        </p:spPr>
        <p:txBody>
          <a:bodyPr/>
          <a:lstStyle/>
          <a:p>
            <a:r>
              <a:rPr lang="en-US" dirty="0"/>
              <a:t>Leaky RELU activation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51678" y="1128451"/>
                <a:ext cx="5970925" cy="169569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000" i="1" dirty="0">
                    <a:latin typeface="Cambria Math" charset="0"/>
                  </a:rPr>
                  <a:t>Leaky RELU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3000" i="1">
                                <a:latin typeface="Cambria Math" charset="0"/>
                              </a:rPr>
                              <m:t>0. 01</m:t>
                            </m:r>
                            <m:r>
                              <a:rPr lang="en-US" sz="30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3000" i="1">
                                <a:latin typeface="Cambria Math" charset="0"/>
                              </a:rPr>
                              <m:t>   </m:t>
                            </m:r>
                            <m:r>
                              <a:rPr lang="en-US" sz="30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30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≤</m:t>
                            </m:r>
                            <m:r>
                              <a:rPr lang="en-US" sz="3000" i="1">
                                <a:latin typeface="Cambria Math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sz="30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3000" i="1">
                                <a:latin typeface="Cambria Math" charset="0"/>
                              </a:rPr>
                              <m:t>            </m:t>
                            </m:r>
                            <m:r>
                              <a:rPr lang="en-US" sz="30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3000" i="1">
                                <a:latin typeface="Cambria Math" charset="0"/>
                              </a:rPr>
                              <m:t>&gt;0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1678" y="1128451"/>
                <a:ext cx="5970925" cy="1695690"/>
              </a:xfrm>
              <a:blipFill rotWithShape="0">
                <a:blip r:embed="rId2"/>
                <a:stretch>
                  <a:fillRect l="-2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" t="1608" r="9077" b="3065"/>
          <a:stretch/>
        </p:blipFill>
        <p:spPr>
          <a:xfrm>
            <a:off x="5170883" y="2422324"/>
            <a:ext cx="6123008" cy="390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1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548" y="258817"/>
            <a:ext cx="10022895" cy="779150"/>
          </a:xfrm>
        </p:spPr>
        <p:txBody>
          <a:bodyPr>
            <a:normAutofit/>
          </a:bodyPr>
          <a:lstStyle/>
          <a:p>
            <a:r>
              <a:rPr lang="en-US" dirty="0"/>
              <a:t>Overfitting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7710D2A-A4C9-8941-A8A1-B1FBCDE7AF90}"/>
              </a:ext>
            </a:extLst>
          </p:cNvPr>
          <p:cNvCxnSpPr/>
          <p:nvPr/>
        </p:nvCxnSpPr>
        <p:spPr>
          <a:xfrm>
            <a:off x="2700169" y="5411096"/>
            <a:ext cx="679883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1A165A-5474-644E-9C39-F828EEFED8B9}"/>
              </a:ext>
            </a:extLst>
          </p:cNvPr>
          <p:cNvCxnSpPr>
            <a:cxnSpLocks/>
          </p:cNvCxnSpPr>
          <p:nvPr/>
        </p:nvCxnSpPr>
        <p:spPr>
          <a:xfrm flipV="1">
            <a:off x="2722452" y="1574799"/>
            <a:ext cx="0" cy="387983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D95A93-3090-8D4B-89CF-D11A6357741A}"/>
              </a:ext>
            </a:extLst>
          </p:cNvPr>
          <p:cNvSpPr txBox="1"/>
          <p:nvPr/>
        </p:nvSpPr>
        <p:spPr>
          <a:xfrm>
            <a:off x="5487480" y="5454638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04CF9-2993-B045-9498-662EF0A4CA96}"/>
              </a:ext>
            </a:extLst>
          </p:cNvPr>
          <p:cNvSpPr txBox="1"/>
          <p:nvPr/>
        </p:nvSpPr>
        <p:spPr>
          <a:xfrm>
            <a:off x="1389261" y="2833423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y</a:t>
            </a:r>
            <a:endParaRPr lang="en-US" sz="2000" dirty="0"/>
          </a:p>
        </p:txBody>
      </p:sp>
      <p:sp>
        <p:nvSpPr>
          <p:cNvPr id="13" name="Isosceles Triangle 12"/>
          <p:cNvSpPr/>
          <p:nvPr/>
        </p:nvSpPr>
        <p:spPr>
          <a:xfrm>
            <a:off x="3064475" y="4693173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7944730" y="3592643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5861036" y="2652330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4426550" y="3221311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3536467" y="3883548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7412126" y="2889345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5025599" y="2865570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5516667" y="2742875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3448424" y="4352007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Isosceles Triangle 21"/>
          <p:cNvSpPr/>
          <p:nvPr/>
        </p:nvSpPr>
        <p:spPr>
          <a:xfrm>
            <a:off x="4251752" y="3514718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3946259" y="3474009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6291981" y="2584783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6788750" y="2629555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5797945" y="2983581"/>
            <a:ext cx="210065" cy="181091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2887991" y="2621533"/>
            <a:ext cx="5419725" cy="2416743"/>
          </a:xfrm>
          <a:custGeom>
            <a:avLst/>
            <a:gdLst>
              <a:gd name="connsiteX0" fmla="*/ 0 w 5419725"/>
              <a:gd name="connsiteY0" fmla="*/ 2416743 h 2416743"/>
              <a:gd name="connsiteX1" fmla="*/ 1038225 w 5419725"/>
              <a:gd name="connsiteY1" fmla="*/ 1083243 h 2416743"/>
              <a:gd name="connsiteX2" fmla="*/ 2314575 w 5419725"/>
              <a:gd name="connsiteY2" fmla="*/ 245043 h 2416743"/>
              <a:gd name="connsiteX3" fmla="*/ 3676650 w 5419725"/>
              <a:gd name="connsiteY3" fmla="*/ 25968 h 2416743"/>
              <a:gd name="connsiteX4" fmla="*/ 4886325 w 5419725"/>
              <a:gd name="connsiteY4" fmla="*/ 740343 h 2416743"/>
              <a:gd name="connsiteX5" fmla="*/ 5419725 w 5419725"/>
              <a:gd name="connsiteY5" fmla="*/ 1283268 h 2416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725" h="2416743">
                <a:moveTo>
                  <a:pt x="0" y="2416743"/>
                </a:moveTo>
                <a:cubicBezTo>
                  <a:pt x="326231" y="1930968"/>
                  <a:pt x="652463" y="1445193"/>
                  <a:pt x="1038225" y="1083243"/>
                </a:cubicBezTo>
                <a:cubicBezTo>
                  <a:pt x="1423988" y="721293"/>
                  <a:pt x="1874838" y="421255"/>
                  <a:pt x="2314575" y="245043"/>
                </a:cubicBezTo>
                <a:cubicBezTo>
                  <a:pt x="2754313" y="68830"/>
                  <a:pt x="3248025" y="-56582"/>
                  <a:pt x="3676650" y="25968"/>
                </a:cubicBezTo>
                <a:cubicBezTo>
                  <a:pt x="4105275" y="108518"/>
                  <a:pt x="4595813" y="530793"/>
                  <a:pt x="4886325" y="740343"/>
                </a:cubicBezTo>
                <a:cubicBezTo>
                  <a:pt x="5176837" y="949893"/>
                  <a:pt x="5298281" y="1116580"/>
                  <a:pt x="5419725" y="1283268"/>
                </a:cubicBezTo>
              </a:path>
            </a:pathLst>
          </a:cu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2600910" y="2525034"/>
            <a:ext cx="5334881" cy="22894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41493" y="2373543"/>
            <a:ext cx="123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Poor fitting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0157" y="3829905"/>
            <a:ext cx="1201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Overfitting</a:t>
            </a:r>
          </a:p>
        </p:txBody>
      </p:sp>
      <p:sp>
        <p:nvSpPr>
          <p:cNvPr id="36" name="Oval 35"/>
          <p:cNvSpPr/>
          <p:nvPr/>
        </p:nvSpPr>
        <p:spPr>
          <a:xfrm>
            <a:off x="5268351" y="3408180"/>
            <a:ext cx="131658" cy="13165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75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19" y="246461"/>
            <a:ext cx="10178322" cy="853290"/>
          </a:xfrm>
        </p:spPr>
        <p:txBody>
          <a:bodyPr/>
          <a:lstStyle/>
          <a:p>
            <a:r>
              <a:rPr lang="en-US" dirty="0"/>
              <a:t>Dropout to avoid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481" y="1235677"/>
            <a:ext cx="10824519" cy="4643916"/>
          </a:xfrm>
        </p:spPr>
        <p:txBody>
          <a:bodyPr/>
          <a:lstStyle/>
          <a:p>
            <a:pPr marL="457200" lvl="1" indent="0">
              <a:spcAft>
                <a:spcPts val="60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Dropout for training and not testing or predicting. </a:t>
            </a:r>
          </a:p>
          <a:p>
            <a:pPr marL="1371600" lvl="2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Drop a set of edges during training to avoid overfitting.</a:t>
            </a:r>
          </a:p>
          <a:p>
            <a:pPr marL="1371600" lvl="2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Works like ensemble method.</a:t>
            </a:r>
          </a:p>
          <a:p>
            <a:pPr marL="1371600" lvl="2" indent="-457200">
              <a:spcAft>
                <a:spcPts val="600"/>
              </a:spcAft>
              <a:buFont typeface="+mj-lt"/>
              <a:buAutoNum type="alphaLcPeriod"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 Similar in idea to resilience in a computer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61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573C4D-726D-604F-965C-7371B44938E8}"/>
              </a:ext>
            </a:extLst>
          </p:cNvPr>
          <p:cNvSpPr/>
          <p:nvPr/>
        </p:nvSpPr>
        <p:spPr>
          <a:xfrm>
            <a:off x="1211375" y="6013620"/>
            <a:ext cx="85598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amarbudhiraja</a:t>
            </a:r>
            <a:r>
              <a:rPr lang="en-US" dirty="0"/>
              <a:t>/https-medium-com-amarbudhiraja-learning-less-to-learn-better-dropout-in-deep-machine-learning-74334da4bfc5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AF9C0-0827-834D-97F9-4E822A637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53" y="398037"/>
            <a:ext cx="10872567" cy="541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88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228" y="232595"/>
            <a:ext cx="10178322" cy="585803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 Geometry Group - VGG16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28" y="1382818"/>
            <a:ext cx="11381772" cy="31508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88090" y="6095110"/>
            <a:ext cx="5640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https://www.quora.com/What-is-the-VGG-neural-network</a:t>
            </a:r>
          </a:p>
        </p:txBody>
      </p:sp>
    </p:spTree>
    <p:extLst>
      <p:ext uri="{BB962C8B-B14F-4D97-AF65-F5344CB8AC3E}">
        <p14:creationId xmlns:p14="http://schemas.microsoft.com/office/powerpoint/2010/main" val="745845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265" y="100656"/>
            <a:ext cx="10178322" cy="585803"/>
          </a:xfrm>
        </p:spPr>
        <p:txBody>
          <a:bodyPr>
            <a:normAutofit fontScale="90000"/>
          </a:bodyPr>
          <a:lstStyle/>
          <a:p>
            <a:r>
              <a:rPr lang="en-US" dirty="0"/>
              <a:t>RESNET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95380" y="6095110"/>
            <a:ext cx="6050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https://www.slideshare.net/SomnathBanerjee17/lenet-to-resnet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 t="28986" r="42262" b="31255"/>
          <a:stretch/>
        </p:blipFill>
        <p:spPr>
          <a:xfrm>
            <a:off x="2184400" y="948268"/>
            <a:ext cx="8270231" cy="452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54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690" y="221021"/>
            <a:ext cx="10178322" cy="585803"/>
          </a:xfrm>
        </p:spPr>
        <p:txBody>
          <a:bodyPr>
            <a:normAutofit fontScale="90000"/>
          </a:bodyPr>
          <a:lstStyle/>
          <a:p>
            <a:r>
              <a:rPr lang="en-US" dirty="0"/>
              <a:t>RESNET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29908" y="6267647"/>
            <a:ext cx="6050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https://www.slideshare.net/SomnathBanerjee17/lenet-to-resnet</a:t>
            </a:r>
          </a:p>
        </p:txBody>
      </p:sp>
      <p:pic>
        <p:nvPicPr>
          <p:cNvPr id="1026" name="Picture 2" descr="(a) Identity shortcut connections; (b)The structure of ResNet 34.">
            <a:extLst>
              <a:ext uri="{FF2B5EF4-FFF2-40B4-BE49-F238E27FC236}">
                <a16:creationId xmlns:a16="http://schemas.microsoft.com/office/drawing/2014/main" id="{075B8990-0A6D-FDB3-AF74-D2D08E7E4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989" y="1025893"/>
            <a:ext cx="7481136" cy="523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992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227" y="221021"/>
            <a:ext cx="9974313" cy="585803"/>
          </a:xfrm>
        </p:spPr>
        <p:txBody>
          <a:bodyPr>
            <a:normAutofit fontScale="90000"/>
          </a:bodyPr>
          <a:lstStyle/>
          <a:p>
            <a:r>
              <a:rPr lang="en-US" dirty="0"/>
              <a:t>Inception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998" y="6267647"/>
            <a:ext cx="10344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https://towardsdatascience.com/a-simple-guide-to-the-versions-of-the-inception-network-7fc52b863202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F85D39D7-37E0-0D21-8005-011942619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1581150"/>
            <a:ext cx="666750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330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227" y="221021"/>
            <a:ext cx="9974313" cy="585803"/>
          </a:xfrm>
        </p:spPr>
        <p:txBody>
          <a:bodyPr>
            <a:normAutofit fontScale="90000"/>
          </a:bodyPr>
          <a:lstStyle/>
          <a:p>
            <a:r>
              <a:rPr lang="en-US" dirty="0"/>
              <a:t>Inception – Another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9998" y="6267647"/>
            <a:ext cx="5607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https://datahacker.rs/deep-learning-inception-network/</a:t>
            </a:r>
          </a:p>
        </p:txBody>
      </p:sp>
      <p:pic>
        <p:nvPicPr>
          <p:cNvPr id="3" name="Picture 4" descr="017 CNN Inception Network">
            <a:extLst>
              <a:ext uri="{FF2B5EF4-FFF2-40B4-BE49-F238E27FC236}">
                <a16:creationId xmlns:a16="http://schemas.microsoft.com/office/drawing/2014/main" id="{5EA38997-0737-1544-2FE2-D0CC8C96C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110" y="1297232"/>
            <a:ext cx="7315122" cy="426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539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989" y="209447"/>
            <a:ext cx="10178322" cy="585803"/>
          </a:xfrm>
        </p:spPr>
        <p:txBody>
          <a:bodyPr>
            <a:normAutofit fontScale="90000"/>
          </a:bodyPr>
          <a:lstStyle/>
          <a:p>
            <a:r>
              <a:rPr lang="en-US" dirty="0"/>
              <a:t>Inception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02988" y="6127193"/>
            <a:ext cx="6985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https://www.slideshare.net/SomnathBanerjee17/lenet-to-resnet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CC90A90-078F-05A0-07E4-BD2BB606F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98" y="2063750"/>
            <a:ext cx="11378701" cy="254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484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90945-848E-9C4C-9AAB-3F85EF27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sz="5400">
                <a:solidFill>
                  <a:schemeClr val="bg2"/>
                </a:solidFill>
              </a:rPr>
              <a:t>Reference</a:t>
            </a:r>
            <a:endParaRPr 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3BA8-DF65-7D4D-844E-D4A93B731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sz="1800"/>
              <a:t>Ian Goodfellow et.al., “Deep learning”, Chapter 9</a:t>
            </a:r>
          </a:p>
          <a:p>
            <a:r>
              <a:rPr lang="en-US" sz="1800">
                <a:hlinkClick r:id="rId2"/>
              </a:rPr>
              <a:t>https://github.com/merantix/picasso</a:t>
            </a:r>
            <a:r>
              <a:rPr lang="en-US" sz="1800"/>
              <a:t> Python module for visualizing CNN</a:t>
            </a:r>
          </a:p>
          <a:p>
            <a:r>
              <a:rPr lang="en-US" sz="1800">
                <a:hlinkClick r:id="rId3"/>
              </a:rPr>
              <a:t>http://cs231n.github.io/convolutional-networks/</a:t>
            </a:r>
            <a:r>
              <a:rPr lang="en-US" sz="1800"/>
              <a:t> </a:t>
            </a:r>
          </a:p>
          <a:p>
            <a:r>
              <a:rPr lang="en-US" sz="1800">
                <a:hlinkClick r:id="rId4"/>
              </a:rPr>
              <a:t>https://www.youtube.com/watch?v=s716QXfApa0</a:t>
            </a:r>
            <a:r>
              <a:rPr lang="en-US" sz="1800"/>
              <a:t> </a:t>
            </a:r>
          </a:p>
          <a:p>
            <a:r>
              <a:rPr lang="en-US" sz="1800">
                <a:hlinkClick r:id="rId5"/>
              </a:rPr>
              <a:t>https://www.youtube.com/watch?v=FmpDIaiMIeA</a:t>
            </a:r>
            <a:endParaRPr lang="en-US" sz="1800"/>
          </a:p>
          <a:p>
            <a:r>
              <a:rPr lang="en-US" sz="1800">
                <a:hlinkClick r:id="rId6"/>
              </a:rPr>
              <a:t>https://codelabs.developers.google.com/codelabs/cloud-tensorflow-mnist#9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7175658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{2CC01A8B-50EF-3A43-A7F7-1873DD980043}tf10001072</Template>
  <TotalTime>3357</TotalTime>
  <Words>499</Words>
  <Application>Microsoft Office PowerPoint</Application>
  <PresentationFormat>Widescreen</PresentationFormat>
  <Paragraphs>82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Franklin Gothic Book</vt:lpstr>
      <vt:lpstr>Crop</vt:lpstr>
      <vt:lpstr>Convolutional neural network</vt:lpstr>
      <vt:lpstr>Hubel and Wiesel cat experiment</vt:lpstr>
      <vt:lpstr>LeNet</vt:lpstr>
      <vt:lpstr>Convolution</vt:lpstr>
      <vt:lpstr>Convolution</vt:lpstr>
      <vt:lpstr>Maxpooling</vt:lpstr>
      <vt:lpstr>MAXPooling</vt:lpstr>
      <vt:lpstr>LeNet</vt:lpstr>
      <vt:lpstr>RELU activation</vt:lpstr>
      <vt:lpstr>Leaky RELU activation</vt:lpstr>
      <vt:lpstr>Overfitting</vt:lpstr>
      <vt:lpstr>Dropout to avoid overfitting</vt:lpstr>
      <vt:lpstr>PowerPoint Presentation</vt:lpstr>
      <vt:lpstr>Visual Geometry Group - VGG16 </vt:lpstr>
      <vt:lpstr>RESNET</vt:lpstr>
      <vt:lpstr>RESNET</vt:lpstr>
      <vt:lpstr>Inception</vt:lpstr>
      <vt:lpstr>Inception – Another Example</vt:lpstr>
      <vt:lpstr>Inception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processing using Python</dc:title>
  <dc:creator>Chityala, Ravi</dc:creator>
  <cp:lastModifiedBy>S P</cp:lastModifiedBy>
  <cp:revision>346</cp:revision>
  <cp:lastPrinted>2015-09-08T17:47:13Z</cp:lastPrinted>
  <dcterms:created xsi:type="dcterms:W3CDTF">2015-08-24T18:00:54Z</dcterms:created>
  <dcterms:modified xsi:type="dcterms:W3CDTF">2023-10-06T20:46:12Z</dcterms:modified>
</cp:coreProperties>
</file>